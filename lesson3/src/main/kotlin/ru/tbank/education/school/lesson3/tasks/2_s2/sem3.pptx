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ink/ink2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sldIdLst>
    <p:sldId id="835" r:id="rId2"/>
    <p:sldId id="837" r:id="rId3"/>
    <p:sldId id="838" r:id="rId4"/>
    <p:sldId id="839" r:id="rId5"/>
    <p:sldId id="840" r:id="rId6"/>
    <p:sldId id="836" r:id="rId7"/>
    <p:sldId id="841" r:id="rId8"/>
    <p:sldId id="842" r:id="rId9"/>
  </p:sldIdLst>
  <p:sldSz cx="19799300" cy="11160125"/>
  <p:notesSz cx="19799300" cy="11160125"/>
  <p:embeddedFontLst>
    <p:embeddedFont>
      <p:font typeface="Tinkoff Sans" panose="020B0604020202020204" charset="-52"/>
      <p:regular r:id="rId11"/>
      <p:bold r:id="rId12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/>
        </p14:section>
        <p14:section name="теория" id="{FE05C58F-8341-7341-96BA-48E279C60E78}">
          <p14:sldIdLst>
            <p14:sldId id="835"/>
            <p14:sldId id="837"/>
            <p14:sldId id="838"/>
            <p14:sldId id="839"/>
            <p14:sldId id="840"/>
            <p14:sldId id="836"/>
            <p14:sldId id="841"/>
            <p14:sldId id="842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3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18"/>
    <p:restoredTop sz="94709"/>
  </p:normalViewPr>
  <p:slideViewPr>
    <p:cSldViewPr snapToGrid="0" snapToObjects="1" showGuides="1">
      <p:cViewPr varScale="1">
        <p:scale>
          <a:sx n="48" d="100"/>
          <a:sy n="48" d="100"/>
        </p:scale>
        <p:origin x="312" y="67"/>
      </p:cViewPr>
      <p:guideLst>
        <p:guide pos="6236"/>
        <p:guide orient="horz" pos="35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59:02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1699 314 24575,'-1170'0'0,"1153"0"0,0 1 0,0 0 0,0 1 0,0 1 0,1 1 0,-1 0 0,-27 12 0,34-11 0,-1 1 0,1 0 0,0 0 0,0 1 0,1 0 0,0 1 0,0 0 0,1 0 0,0 1 0,1 0 0,-13 20 0,-121 186 0,130-196 0,1 0 0,0 1 0,2 0 0,0 0 0,-8 39 0,4-16 0,4-18 0,2 1 0,1 0 0,1 0 0,-2 36 0,6-54 0,0 1 0,0-1 0,1 0 0,-1 0 0,2 0 0,-1 0 0,1-1 0,1 1 0,-1 0 0,1-1 0,0 1 0,1-1 0,0 0 0,0 0 0,1-1 0,0 1 0,0-1 0,8 8 0,-1-4 0,1-2 0,0 0 0,1 0 0,-1-2 0,1 1 0,1-2 0,-1 0 0,1-1 0,0 0 0,0-1 0,21 2 0,21-2 0,99-5 0,-77-1 0,19 0 0,209 5 0,-271 4 0,-1 1 0,1 1 0,-1 2 0,37 17 0,-10-5 0,70 24 0,8 8 0,-18-6 0,-79-37 0,1-1 0,0-3 0,0-1 0,1-3 0,48-2 0,23 3 0,38 16 0,-100-10 0,67 2 0,493-11 0,-293-3 0,-283 4 0,0 1 0,45 11 0,6 1 0,63 9 0,-78-11 0,119 6 0,-35-12 0,-129-3 0,0 1 0,0 0 0,38 15 0,-2 2 0,0-3 0,1-3 0,1-2 0,0-4 0,1-2 0,70-2 0,752-9 0,-863 2 0,0-1 0,-1-2 0,1 0 0,-1-2 0,0-1 0,-1 0 0,31-15 0,4-1 0,-26 10 0,0 0 0,-1-3 0,48-29 0,-68 36 0,0 2 0,0 0 0,1 0 0,0 1 0,0 1 0,0 0 0,22-4 0,-6 4 0,-1 2 0,55 1 0,-53 1 0,0-2 0,0-1 0,0-1 0,0-2 0,-1-1 0,53-21 0,-74 25 0,0-1 0,0 0 0,-1 0 0,0-1 0,0 0 0,-1 0 0,0-1 0,0 0 0,0 0 0,-1-1 0,0 1 0,0-1 0,-1-1 0,0 1 0,0-1 0,-1 0 0,0 0 0,-1 0 0,0-1 0,-1 1 0,1-1 0,-2 1 0,0-1 0,0 0 0,-1-17 0,0 13 0,-1 0 0,0-1 0,-1 1 0,-1 0 0,0 0 0,-1 0 0,-1 1 0,0 0 0,-1-1 0,0 2 0,-1-1 0,0 1 0,-1 0 0,0 0 0,-1 1 0,0 0 0,-15-12 0,-60-46 0,-79-69 0,69 56 0,55 50 0,1-2 0,-55-64 0,48 48 0,-2 1 0,-2 2 0,-95-68 0,103 87 0,-1 2 0,-61-27 0,97 50 0,-134-74 0,106 57 0,0 2 0,-1 2 0,0 1 0,-1 2 0,-1 1 0,0 2 0,0 2 0,-59-6 0,-270 4 0,328 11 0,-1518 2 0,850-4 0,681 2 0,0 2 0,0 1 0,0 2 0,0 0 0,-42 17 0,31-11 0,-56 13 0,-124 28 0,77-14 0,123-33-80,0 1 0,1 0 0,-1 1 0,1 1 0,1 0 0,0 1-1,0 0 1,-14 16 0,14-15-564,-7 6-6182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59:09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AE47-EC55-45F1-2A89-9C6ABE23BC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9E8EB4D5-125D-F5AF-885F-EC281576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23334B4-C07D-6CD0-5962-B024DD5343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62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7867-8048-869E-4CD0-6D16306577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ACEDC899-4854-9227-E588-DBD9A9C2C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64F8A010-0C7D-A75A-783C-E21AD2BE6F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022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D6C8-9C4E-06D5-24DD-2049FCA2602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4F2FAB25-158E-D1EB-F1CA-B19103F48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FDB5A87-603B-4EBB-C7E6-C1734F9543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4311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5D21-5CA6-007F-7D57-6FDF66BAB75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C0B6614C-C9A2-A0A2-94FA-519390BE2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ABA8BFD-8AF7-3471-3C6A-31BB03A308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1914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CD5E-6BDF-2CC3-F4B0-C11511A5A0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0D1D36A-EBC3-C3B5-1079-DD5AFCE0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5AB6DE5-C2D1-08D1-7946-5F122BECA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73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FC-3706-66E7-26D5-46DAD92E46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1DFB1C3B-DA4B-A828-D95C-3277248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D66F112-037D-AF08-EB72-87A0D4BBD6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45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986168" y="529075"/>
            <a:ext cx="7406718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Принцип единой ответственности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2B5A7-922D-6551-2CF7-D5502592357A}"/>
              </a:ext>
            </a:extLst>
          </p:cNvPr>
          <p:cNvSpPr txBox="1"/>
          <p:nvPr/>
        </p:nvSpPr>
        <p:spPr>
          <a:xfrm>
            <a:off x="566062" y="4145639"/>
            <a:ext cx="18774448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Single Responsibility –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должна быть только одна причина для изменения класса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EF0C3C-D083-EEDF-0928-BC0CDD801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A6A2963-3F01-5271-B599-D8B1AA40233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80AFBC6-1188-2489-DF6F-A10AE0F7C3D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8ADAB25-3C30-FD12-5193-3F9F2E30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F009-49DF-1B4C-3D8F-2AE6345F8A54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2A90-A9E4-A604-A1F7-560C8E147EB6}"/>
              </a:ext>
            </a:extLst>
          </p:cNvPr>
          <p:cNvSpPr txBox="1"/>
          <p:nvPr/>
        </p:nvSpPr>
        <p:spPr bwMode="auto">
          <a:xfrm>
            <a:off x="4479768" y="4336019"/>
            <a:ext cx="18774448" cy="44966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Это игрок в команде по футболу</a:t>
            </a:r>
            <a:r>
              <a:rPr lang="en-US" dirty="0"/>
              <a:t>.</a:t>
            </a:r>
          </a:p>
          <a:p>
            <a:r>
              <a:rPr lang="ru-RU" dirty="0"/>
              <a:t>Он является </a:t>
            </a:r>
            <a:r>
              <a:rPr lang="ru-RU" b="1" dirty="0"/>
              <a:t>одновременно</a:t>
            </a:r>
            <a:r>
              <a:rPr lang="ru-RU" dirty="0"/>
              <a:t>:</a:t>
            </a:r>
          </a:p>
          <a:p>
            <a:r>
              <a:rPr lang="ru-RU" dirty="0"/>
              <a:t>вратарем</a:t>
            </a:r>
            <a:br>
              <a:rPr lang="ru-RU" dirty="0"/>
            </a:br>
            <a:r>
              <a:rPr lang="ru-RU" dirty="0"/>
              <a:t>нападающим</a:t>
            </a:r>
            <a:br>
              <a:rPr lang="ru-RU" dirty="0"/>
            </a:br>
            <a:r>
              <a:rPr lang="ru-RU" dirty="0"/>
              <a:t>тренером</a:t>
            </a:r>
          </a:p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D1394BB8-D501-3120-8594-E87FEF083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0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E32C84-2F66-44CF-04A9-A10B1A786B5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3EB9BC1-083A-FF19-3879-900B3D2D251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6A85FF0-3BFB-A9A3-71DA-5ECAE8BDEE1F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A91ED309-0C63-702A-B3AA-5ECBE7BC9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CE605-7E47-A176-DB08-3E70E2D9080B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C6074432-BBAE-D51F-D25B-A017DA36A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3DF505-6720-4618-4F5E-0C99B5EB9A75}"/>
              </a:ext>
            </a:extLst>
          </p:cNvPr>
          <p:cNvSpPr txBox="1"/>
          <p:nvPr/>
        </p:nvSpPr>
        <p:spPr bwMode="auto">
          <a:xfrm>
            <a:off x="4599837" y="4319334"/>
            <a:ext cx="18774448" cy="385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Что произойдёт если</a:t>
            </a:r>
            <a:r>
              <a:rPr lang="ru-RU" dirty="0"/>
              <a:t>?</a:t>
            </a:r>
          </a:p>
          <a:p>
            <a:r>
              <a:rPr lang="ru-RU" dirty="0"/>
              <a:t>Если он заболел — команды нет.</a:t>
            </a:r>
            <a:br>
              <a:rPr lang="ru-RU" dirty="0"/>
            </a:br>
            <a:r>
              <a:rPr lang="ru-RU" dirty="0"/>
              <a:t>Если нужно учить новую тактику — он перегружен,</a:t>
            </a:r>
            <a:r>
              <a:rPr lang="en-US" dirty="0"/>
              <a:t> </a:t>
            </a:r>
            <a:r>
              <a:rPr lang="ru-RU" dirty="0"/>
              <a:t>так как выполняет несколько ролей.</a:t>
            </a:r>
          </a:p>
          <a:p>
            <a:r>
              <a:rPr lang="ru-RU" dirty="0"/>
              <a:t>Команда становится слабой, потому что нет распределения ролей.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3504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BBF093-A026-7376-64AD-4FDE5774E5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C894036B-6679-43F0-6603-25487FDB778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488CF914-A344-031A-98C1-78BFF7E79EB2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EB90B83-C0AA-21B4-837C-F69CB1D0E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44258-064A-B292-B1DA-9B6451DF3EA3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9539615E-4935-7354-6523-FBA2A8164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CA66E-CD13-7B7B-0AB9-0E6B26C80CCB}"/>
              </a:ext>
            </a:extLst>
          </p:cNvPr>
          <p:cNvSpPr txBox="1"/>
          <p:nvPr/>
        </p:nvSpPr>
        <p:spPr bwMode="auto">
          <a:xfrm>
            <a:off x="4599837" y="4319334"/>
            <a:ext cx="14572083" cy="385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Как </a:t>
            </a:r>
            <a:r>
              <a:rPr lang="ru-RU" b="1" dirty="0" err="1"/>
              <a:t>фиксить</a:t>
            </a:r>
            <a:r>
              <a:rPr lang="ru-RU" b="1" dirty="0"/>
              <a:t>?</a:t>
            </a:r>
            <a:endParaRPr lang="ru-RU" dirty="0"/>
          </a:p>
          <a:p>
            <a:r>
              <a:rPr lang="ru-RU" dirty="0"/>
              <a:t>Дать ему только 1 роль</a:t>
            </a:r>
            <a:r>
              <a:rPr lang="en-US" dirty="0"/>
              <a:t> – </a:t>
            </a:r>
            <a:r>
              <a:rPr lang="ru-RU" dirty="0"/>
              <a:t>1 причину для изменения</a:t>
            </a:r>
            <a:r>
              <a:rPr lang="en-US" dirty="0"/>
              <a:t>.</a:t>
            </a:r>
          </a:p>
          <a:p>
            <a:r>
              <a:rPr lang="ru-RU" dirty="0"/>
              <a:t>Если сделать его атакующим</a:t>
            </a:r>
            <a:r>
              <a:rPr lang="en-US" dirty="0"/>
              <a:t>, </a:t>
            </a:r>
            <a:r>
              <a:rPr lang="ru-RU" dirty="0"/>
              <a:t>то единственная причина для изменения – это его поведение при атаке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80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9ADE9E-EAC9-C375-00B0-AE9ABCC9B8F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E52636E-9E20-02A0-9309-AA24EC3BB1CC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10CA9CAF-F629-863F-A541-FDC167703CF2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A7D2AEDE-5CBB-2FA8-77E5-132A01D1D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8F707-9EDC-8020-6FDD-F103AF49E41B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54031-EDAC-C81F-9E75-347480B3F0C3}"/>
              </a:ext>
            </a:extLst>
          </p:cNvPr>
          <p:cNvSpPr txBox="1"/>
          <p:nvPr/>
        </p:nvSpPr>
        <p:spPr bwMode="auto">
          <a:xfrm>
            <a:off x="9199694" y="2636996"/>
            <a:ext cx="10599606" cy="94395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Проблемы</a:t>
            </a:r>
            <a:endParaRPr lang="en-US" b="1" dirty="0"/>
          </a:p>
          <a:p>
            <a:r>
              <a:rPr lang="ru-RU" dirty="0"/>
              <a:t>При усложнении логики класс станет в несколько раз больше</a:t>
            </a:r>
            <a:br>
              <a:rPr lang="ru-RU" dirty="0"/>
            </a:br>
            <a:r>
              <a:rPr lang="ru-RU" dirty="0"/>
              <a:t>Станет тяжелее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Осознавать что происходит и что с чем взаимодействует. Так как нет единой зоны ответственности и мы делаем все сразу</a:t>
            </a:r>
            <a:r>
              <a:rPr lang="en-US" dirty="0"/>
              <a:t> -</a:t>
            </a:r>
            <a:r>
              <a:rPr lang="ru-RU" dirty="0"/>
              <a:t> придется вчитываться в каждый метод</a:t>
            </a:r>
            <a:r>
              <a:rPr lang="en-US" dirty="0"/>
              <a:t> </a:t>
            </a:r>
            <a:endParaRPr lang="ru-RU" dirty="0"/>
          </a:p>
          <a:p>
            <a:pPr marL="514350" indent="-514350">
              <a:buFontTx/>
              <a:buAutoNum type="arabicPeriod"/>
            </a:pPr>
            <a:r>
              <a:rPr lang="ru-RU" dirty="0"/>
              <a:t>Если сломается что-то одно</a:t>
            </a:r>
            <a:r>
              <a:rPr lang="en-US" dirty="0"/>
              <a:t>, </a:t>
            </a:r>
            <a:r>
              <a:rPr lang="ru-RU" dirty="0"/>
              <a:t>то скорее всего и что-то другое</a:t>
            </a:r>
            <a:br>
              <a:rPr lang="ru-RU" dirty="0"/>
            </a:br>
            <a:r>
              <a:rPr lang="ru-RU" dirty="0"/>
              <a:t>Например </a:t>
            </a:r>
            <a:r>
              <a:rPr lang="en-US" dirty="0" err="1"/>
              <a:t>SaveToFile</a:t>
            </a:r>
            <a:r>
              <a:rPr lang="en-US" dirty="0"/>
              <a:t> </a:t>
            </a:r>
            <a:r>
              <a:rPr lang="ru-RU" dirty="0"/>
              <a:t>будет вызвать </a:t>
            </a:r>
            <a:r>
              <a:rPr lang="en-US" dirty="0" err="1"/>
              <a:t>GenerateText</a:t>
            </a:r>
            <a:r>
              <a:rPr lang="ru-RU" dirty="0"/>
              <a:t> и при изменении </a:t>
            </a:r>
            <a:r>
              <a:rPr lang="en-US" dirty="0" err="1"/>
              <a:t>GenerateText</a:t>
            </a:r>
            <a:r>
              <a:rPr lang="en-US" dirty="0"/>
              <a:t> </a:t>
            </a:r>
            <a:r>
              <a:rPr lang="ru-RU" dirty="0"/>
              <a:t>мы сломаем и этот метод и </a:t>
            </a:r>
            <a:r>
              <a:rPr lang="en-US" dirty="0" err="1"/>
              <a:t>SaveToFile</a:t>
            </a:r>
            <a:r>
              <a:rPr lang="ru-RU" dirty="0"/>
              <a:t> </a:t>
            </a:r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5A5D9A-2156-334C-4AF3-EA356090B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0796" y="5211707"/>
            <a:ext cx="7772400" cy="141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214440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Условие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65348B-DE04-EE99-3B37-9EC01F7C9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2378" y="1488756"/>
            <a:ext cx="6239746" cy="7535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E28C6D-6672-8D51-26CC-C996CA64A5EF}"/>
              </a:ext>
            </a:extLst>
          </p:cNvPr>
          <p:cNvSpPr txBox="1"/>
          <p:nvPr/>
        </p:nvSpPr>
        <p:spPr bwMode="auto">
          <a:xfrm>
            <a:off x="1022447" y="4010403"/>
            <a:ext cx="7154779" cy="15696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rtlCol="0">
            <a:spAutoFit/>
          </a:bodyPr>
          <a:lstStyle/>
          <a:p>
            <a:r>
              <a:rPr lang="ru-RU" sz="3200" dirty="0"/>
              <a:t>Задачи: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 </a:t>
            </a:r>
            <a:r>
              <a:rPr lang="ru-RU" sz="3200" dirty="0" err="1"/>
              <a:t>Пофиксить</a:t>
            </a:r>
            <a:r>
              <a:rPr lang="ru-RU" sz="3200" dirty="0"/>
              <a:t> несоответствие элементов кода с </a:t>
            </a:r>
            <a:r>
              <a:rPr lang="en-US" sz="3200" dirty="0"/>
              <a:t>SOLID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774A9-3974-851E-A877-B3FBC2FFE3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E9B7A80-E6AB-3B88-F6D0-B962382E85C8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BAD4BB3-AE45-9666-8EDD-F17C8E8189E8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Проблемы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8302A22-0DE8-57AD-74C3-77916748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B7EB-CCE5-D47E-999C-0C13C708DB26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C81673-6BCB-7C0D-A3DC-7B896269E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390416" y="1234137"/>
            <a:ext cx="7523970" cy="90861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35665966-1F1D-82EC-A25B-BB5D71E7DBC8}"/>
                  </a:ext>
                </a:extLst>
              </p14:cNvPr>
              <p14:cNvContentPartPr/>
              <p14:nvPr/>
            </p14:nvContentPartPr>
            <p14:xfrm>
              <a:off x="10393023" y="1651011"/>
              <a:ext cx="2473560" cy="64440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5665966-1F1D-82EC-A25B-BB5D71E7DB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86903" y="1644891"/>
                <a:ext cx="2485800" cy="656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4FBF5DA-64BB-A491-BD91-A629CE9C82D2}"/>
              </a:ext>
            </a:extLst>
          </p:cNvPr>
          <p:cNvSpPr txBox="1"/>
          <p:nvPr/>
        </p:nvSpPr>
        <p:spPr bwMode="auto">
          <a:xfrm>
            <a:off x="433137" y="3930316"/>
            <a:ext cx="5767926" cy="5847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ru-RU" sz="3200" b="1" dirty="0"/>
              <a:t>Все функции в одном классе</a:t>
            </a:r>
          </a:p>
        </p:txBody>
      </p:sp>
    </p:spTree>
    <p:extLst>
      <p:ext uri="{BB962C8B-B14F-4D97-AF65-F5344CB8AC3E}">
        <p14:creationId xmlns:p14="http://schemas.microsoft.com/office/powerpoint/2010/main" val="349880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E7E1D-A29F-B532-8FEC-C9EC38F580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F8A0F2E-BA84-B29F-9FF2-CC078361BA5E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0E80120-1F8D-A619-80D8-51F96053050A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E5CDCE-616E-1D1C-2FFA-B089EBBA6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878D1-06BF-24EB-516F-BDAC5CCE9A7C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BFAC-73C3-70E3-831E-11D8B9DBF7CC}"/>
              </a:ext>
            </a:extLst>
          </p:cNvPr>
          <p:cNvSpPr txBox="1"/>
          <p:nvPr/>
        </p:nvSpPr>
        <p:spPr bwMode="auto">
          <a:xfrm>
            <a:off x="206952" y="3434711"/>
            <a:ext cx="15134270" cy="1474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Добавлено разделение на 3 класса по назначению</a:t>
            </a:r>
            <a:r>
              <a:rPr lang="en-US" b="1" dirty="0"/>
              <a:t>;</a:t>
            </a:r>
          </a:p>
          <a:p>
            <a:r>
              <a:rPr lang="ru-RU" b="1" dirty="0"/>
              <a:t>Добавлен</a:t>
            </a:r>
            <a:r>
              <a:rPr lang="ru-RU" dirty="0"/>
              <a:t> </a:t>
            </a:r>
            <a:r>
              <a:rPr lang="ru-RU" b="1" dirty="0"/>
              <a:t>интерфейс, </a:t>
            </a:r>
            <a:r>
              <a:rPr lang="en-US" b="1" dirty="0"/>
              <a:t>override </a:t>
            </a:r>
            <a:r>
              <a:rPr lang="ru-RU" b="1" dirty="0"/>
              <a:t>функции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CEA041C9-68B4-5651-FCC5-E229F2B35CAE}"/>
                  </a:ext>
                </a:extLst>
              </p14:cNvPr>
              <p14:cNvContentPartPr/>
              <p14:nvPr/>
            </p14:nvContentPartPr>
            <p14:xfrm>
              <a:off x="6673143" y="6833571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CEA041C9-68B4-5651-FCC5-E229F2B35C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7023" y="682745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743FA6-9DAC-D1B5-1D65-21713E3FC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9608" y="567587"/>
            <a:ext cx="8564170" cy="816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22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448</Words>
  <Application>Microsoft Office PowerPoint</Application>
  <DocSecurity>0</DocSecurity>
  <PresentationFormat>Произвольный</PresentationFormat>
  <Paragraphs>67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Tinkoff Sans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Gregory T</cp:lastModifiedBy>
  <cp:revision>691</cp:revision>
  <dcterms:modified xsi:type="dcterms:W3CDTF">2025-11-20T09:10:57Z</dcterms:modified>
  <cp:category/>
  <dc:identifier/>
  <cp:contentStatus/>
  <dc:language/>
  <cp:version/>
</cp:coreProperties>
</file>